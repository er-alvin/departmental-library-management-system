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1" r:id="rId3"/>
    <p:sldId id="262" r:id="rId4"/>
    <p:sldId id="259" r:id="rId5"/>
    <p:sldId id="263" r:id="rId6"/>
    <p:sldId id="264" r:id="rId7"/>
    <p:sldId id="257" r:id="rId8"/>
    <p:sldId id="265" r:id="rId9"/>
    <p:sldId id="260" r:id="rId10"/>
    <p:sldId id="266"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2805B8-0FE7-4C55-AD98-934AB8D03A1A}" type="datetimeFigureOut">
              <a:rPr lang="en-IN" smtClean="0"/>
              <a:t>04-11-2023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FF6383-A794-4B44-8CD8-9C6EE700A4A8}" type="slidenum">
              <a:rPr lang="en-IN" smtClean="0"/>
              <a:t>‹#›</a:t>
            </a:fld>
            <a:endParaRPr lang="en-IN"/>
          </a:p>
        </p:txBody>
      </p:sp>
    </p:spTree>
    <p:extLst>
      <p:ext uri="{BB962C8B-B14F-4D97-AF65-F5344CB8AC3E}">
        <p14:creationId xmlns:p14="http://schemas.microsoft.com/office/powerpoint/2010/main" val="2129314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EBAD-6266-0258-ED8E-C59C4D6FCC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8E819E-BA6A-61AB-7B47-4439B7F7F4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E0694B2-AD5D-B669-140A-8327A2F70496}"/>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5" name="Footer Placeholder 4">
            <a:extLst>
              <a:ext uri="{FF2B5EF4-FFF2-40B4-BE49-F238E27FC236}">
                <a16:creationId xmlns:a16="http://schemas.microsoft.com/office/drawing/2014/main" id="{98CFB297-3C40-B29C-FEC7-299E96865F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8CB784-EBBB-7239-BE8D-905259719078}"/>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773486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E4194-4E4D-7ED0-9751-8203EBDD88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D8A9A8-39A1-11B1-E758-5B2526B495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3F585A-8123-0FBB-DB6E-DCC9EF70D233}"/>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5" name="Footer Placeholder 4">
            <a:extLst>
              <a:ext uri="{FF2B5EF4-FFF2-40B4-BE49-F238E27FC236}">
                <a16:creationId xmlns:a16="http://schemas.microsoft.com/office/drawing/2014/main" id="{041B135E-484B-897A-77BE-8CF8DEAB22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84774E-BB5F-E800-F900-2C341373D7D8}"/>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1031427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E0263-9632-5862-4EB7-1D73595C51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BD7CC9-89C8-1291-790E-7C6502DA4C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DB3BDB-5744-28A6-B65A-1E887A8C71F4}"/>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5" name="Footer Placeholder 4">
            <a:extLst>
              <a:ext uri="{FF2B5EF4-FFF2-40B4-BE49-F238E27FC236}">
                <a16:creationId xmlns:a16="http://schemas.microsoft.com/office/drawing/2014/main" id="{10494900-C195-7D63-B2F3-66A3C8EDFF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2EAC32-4E0B-69E3-0B86-BD251D1006D3}"/>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3965437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E7175-E3F5-2D36-F12B-241CD49628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A305B8-36B6-BB0E-B739-40B6A2BCA7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3C5D53-A5C9-0646-077E-B77FF42959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DD0C66-93F1-9A93-F86E-64369E328A0D}"/>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6" name="Footer Placeholder 5">
            <a:extLst>
              <a:ext uri="{FF2B5EF4-FFF2-40B4-BE49-F238E27FC236}">
                <a16:creationId xmlns:a16="http://schemas.microsoft.com/office/drawing/2014/main" id="{25F5E727-8FB9-3822-6E85-F7533DE1A9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EFB907-5929-4EC5-2251-607E44E463C3}"/>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1672246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F6DD0-E956-F67F-95F4-9EBEE15EA3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52E6AC-875D-CE02-8869-C38E9911C6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482C7B-9C49-9013-7630-EAFAC469E3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0CBB91-E106-B0D8-931E-0D7E5206CE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454353-F091-DC11-AD07-E88C93CC6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517AE3-3608-EB64-1B66-E77440D30FF7}"/>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8" name="Footer Placeholder 7">
            <a:extLst>
              <a:ext uri="{FF2B5EF4-FFF2-40B4-BE49-F238E27FC236}">
                <a16:creationId xmlns:a16="http://schemas.microsoft.com/office/drawing/2014/main" id="{5236E472-9C32-6F69-919B-978411573B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41D278E-B616-C832-BE1B-F98C3357D5C8}"/>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2333505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8A360-6D28-50D7-1035-F1DBDDA55D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8A94EA-129C-612F-36D6-1126234A53FD}"/>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4" name="Footer Placeholder 3">
            <a:extLst>
              <a:ext uri="{FF2B5EF4-FFF2-40B4-BE49-F238E27FC236}">
                <a16:creationId xmlns:a16="http://schemas.microsoft.com/office/drawing/2014/main" id="{CCF4315B-CBBF-9252-AB48-8251AA9117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D087FE-1DC3-32CF-BF32-520D941179FD}"/>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266228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63A873-828C-2DB8-E2B8-311E1298036B}"/>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3" name="Footer Placeholder 2">
            <a:extLst>
              <a:ext uri="{FF2B5EF4-FFF2-40B4-BE49-F238E27FC236}">
                <a16:creationId xmlns:a16="http://schemas.microsoft.com/office/drawing/2014/main" id="{1B539417-10EA-B5E1-7E6C-B428A7B8E74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A7BA1D-E4B5-5D5D-D754-98DD34F0D0AA}"/>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4209088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2A1C0-F282-9FA1-69B7-A013894C8A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94E03E-03EC-7B01-FA16-0D0776E9D5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A5C9D0-D22D-871D-CCBF-5261D5E747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8E47A3-D4E2-91D8-8B92-C85892541096}"/>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6" name="Footer Placeholder 5">
            <a:extLst>
              <a:ext uri="{FF2B5EF4-FFF2-40B4-BE49-F238E27FC236}">
                <a16:creationId xmlns:a16="http://schemas.microsoft.com/office/drawing/2014/main" id="{1DFA5432-BAA8-954C-9DDD-CE730BF1D5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C91FC6-FC6E-6961-7D04-C36F7512C76B}"/>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2144003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58FC7-7E8A-FBE6-FCDB-0179D39FCD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C03AC66-7AA2-43B6-532D-98F34448E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A0DC0D-16E0-D44C-2ABA-3DA1231BA8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83A446-C3FE-D67F-AA37-D40943576A83}"/>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6" name="Footer Placeholder 5">
            <a:extLst>
              <a:ext uri="{FF2B5EF4-FFF2-40B4-BE49-F238E27FC236}">
                <a16:creationId xmlns:a16="http://schemas.microsoft.com/office/drawing/2014/main" id="{B95400DD-A7F8-86A4-7E34-AE5B2619EF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444733-313A-ED48-2B85-CE968E2E5FBF}"/>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3130455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A661-BD44-CC64-285A-A7F65F5F1F0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9897E2-12A7-7792-FA3E-A52DB265FA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5E5F68-E3D3-7A88-840E-2993EF554A2A}"/>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5" name="Footer Placeholder 4">
            <a:extLst>
              <a:ext uri="{FF2B5EF4-FFF2-40B4-BE49-F238E27FC236}">
                <a16:creationId xmlns:a16="http://schemas.microsoft.com/office/drawing/2014/main" id="{2734797C-2DA0-F097-6EFC-4F235844B9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4C54FF-8E2C-10A7-3CB1-A59377A1BA0A}"/>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1703250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2D21CD-463F-39D6-0B5F-E54A468994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540333-4923-92DC-F2ED-5B112DEEF2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9DF59E-314A-54A2-5DC0-36F230B2D451}"/>
              </a:ext>
            </a:extLst>
          </p:cNvPr>
          <p:cNvSpPr>
            <a:spLocks noGrp="1"/>
          </p:cNvSpPr>
          <p:nvPr>
            <p:ph type="dt" sz="half" idx="10"/>
          </p:nvPr>
        </p:nvSpPr>
        <p:spPr/>
        <p:txBody>
          <a:bodyPr/>
          <a:lstStyle/>
          <a:p>
            <a:fld id="{E25968D1-AC03-479C-8E1A-EEB7D5F6CB41}" type="datetimeFigureOut">
              <a:rPr lang="en-IN" smtClean="0"/>
              <a:t>04-11-2023</a:t>
            </a:fld>
            <a:endParaRPr lang="en-IN"/>
          </a:p>
        </p:txBody>
      </p:sp>
      <p:sp>
        <p:nvSpPr>
          <p:cNvPr id="5" name="Footer Placeholder 4">
            <a:extLst>
              <a:ext uri="{FF2B5EF4-FFF2-40B4-BE49-F238E27FC236}">
                <a16:creationId xmlns:a16="http://schemas.microsoft.com/office/drawing/2014/main" id="{D4EC5341-AFF5-BBE9-6E43-0583A2C890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2C8E9B-820A-DCBC-10B8-C2F66A84D8BD}"/>
              </a:ext>
            </a:extLst>
          </p:cNvPr>
          <p:cNvSpPr>
            <a:spLocks noGrp="1"/>
          </p:cNvSpPr>
          <p:nvPr>
            <p:ph type="sldNum" sz="quarter" idx="12"/>
          </p:nvPr>
        </p:nvSpPr>
        <p:spPr/>
        <p:txBody>
          <a:bodyPr/>
          <a:lstStyle/>
          <a:p>
            <a:fld id="{E8106689-C36B-4435-9EF0-E3D385C5C687}" type="slidenum">
              <a:rPr lang="en-IN" smtClean="0"/>
              <a:t>‹#›</a:t>
            </a:fld>
            <a:endParaRPr lang="en-IN"/>
          </a:p>
        </p:txBody>
      </p:sp>
    </p:spTree>
    <p:extLst>
      <p:ext uri="{BB962C8B-B14F-4D97-AF65-F5344CB8AC3E}">
        <p14:creationId xmlns:p14="http://schemas.microsoft.com/office/powerpoint/2010/main" val="852678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58B9D5-6660-FC99-2D04-2050E6B1D3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EF5C01-94BE-253F-CAF5-04C83E8BF0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E8F87C-DAF9-C336-F662-29D100566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5968D1-AC03-479C-8E1A-EEB7D5F6CB41}" type="datetimeFigureOut">
              <a:rPr lang="en-IN" smtClean="0"/>
              <a:t>04-11-2023</a:t>
            </a:fld>
            <a:endParaRPr lang="en-IN"/>
          </a:p>
        </p:txBody>
      </p:sp>
      <p:sp>
        <p:nvSpPr>
          <p:cNvPr id="5" name="Footer Placeholder 4">
            <a:extLst>
              <a:ext uri="{FF2B5EF4-FFF2-40B4-BE49-F238E27FC236}">
                <a16:creationId xmlns:a16="http://schemas.microsoft.com/office/drawing/2014/main" id="{B3317FC2-DF2A-CB3E-E6D6-D8C641DEB7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42F4FFB-8528-D70C-E11E-4D99FCC154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106689-C36B-4435-9EF0-E3D385C5C687}" type="slidenum">
              <a:rPr lang="en-IN" smtClean="0"/>
              <a:t>‹#›</a:t>
            </a:fld>
            <a:endParaRPr lang="en-IN"/>
          </a:p>
        </p:txBody>
      </p:sp>
    </p:spTree>
    <p:extLst>
      <p:ext uri="{BB962C8B-B14F-4D97-AF65-F5344CB8AC3E}">
        <p14:creationId xmlns:p14="http://schemas.microsoft.com/office/powerpoint/2010/main" val="134189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2D055D-DDD5-6183-BA7B-8D28E21313CA}"/>
              </a:ext>
            </a:extLst>
          </p:cNvPr>
          <p:cNvSpPr/>
          <p:nvPr/>
        </p:nvSpPr>
        <p:spPr>
          <a:xfrm>
            <a:off x="1148867" y="4315844"/>
            <a:ext cx="10023577" cy="584775"/>
          </a:xfrm>
          <a:prstGeom prst="rect">
            <a:avLst/>
          </a:prstGeom>
          <a:noFill/>
        </p:spPr>
        <p:txBody>
          <a:bodyPr wrap="non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DEPARTMENTAL LIBRARY MANAGEMENT SYSTEM</a:t>
            </a:r>
            <a:endParaRPr lang="en-US" sz="3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5" name="image1.jpeg">
            <a:extLst>
              <a:ext uri="{FF2B5EF4-FFF2-40B4-BE49-F238E27FC236}">
                <a16:creationId xmlns:a16="http://schemas.microsoft.com/office/drawing/2014/main" id="{8152591F-AB9A-C2D4-9FD1-EEF71F54CD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1156" y="937210"/>
            <a:ext cx="3038998" cy="2861587"/>
          </a:xfrm>
          <a:prstGeom prst="rect">
            <a:avLst/>
          </a:prstGeom>
        </p:spPr>
      </p:pic>
      <p:sp>
        <p:nvSpPr>
          <p:cNvPr id="8" name="Flowchart: Process 7">
            <a:extLst>
              <a:ext uri="{FF2B5EF4-FFF2-40B4-BE49-F238E27FC236}">
                <a16:creationId xmlns:a16="http://schemas.microsoft.com/office/drawing/2014/main" id="{B08B1BA4-5842-0456-0919-F6E6049ED487}"/>
              </a:ext>
            </a:extLst>
          </p:cNvPr>
          <p:cNvSpPr/>
          <p:nvPr/>
        </p:nvSpPr>
        <p:spPr>
          <a:xfrm>
            <a:off x="971491" y="4964876"/>
            <a:ext cx="10249018" cy="75990"/>
          </a:xfrm>
          <a:prstGeom prst="flowChartProcess">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67EC68B3-7239-98D5-33F4-2ADFA864AC0C}"/>
              </a:ext>
            </a:extLst>
          </p:cNvPr>
          <p:cNvSpPr txBox="1"/>
          <p:nvPr/>
        </p:nvSpPr>
        <p:spPr>
          <a:xfrm>
            <a:off x="5208494" y="5417666"/>
            <a:ext cx="177501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Group No: 01</a:t>
            </a:r>
          </a:p>
        </p:txBody>
      </p:sp>
    </p:spTree>
    <p:extLst>
      <p:ext uri="{BB962C8B-B14F-4D97-AF65-F5344CB8AC3E}">
        <p14:creationId xmlns:p14="http://schemas.microsoft.com/office/powerpoint/2010/main" val="60715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07279-42C8-A1B7-B59D-CD4641E9EC36}"/>
              </a:ext>
            </a:extLst>
          </p:cNvPr>
          <p:cNvSpPr txBox="1">
            <a:spLocks/>
          </p:cNvSpPr>
          <p:nvPr/>
        </p:nvSpPr>
        <p:spPr>
          <a:xfrm>
            <a:off x="1451579" y="804520"/>
            <a:ext cx="9603275" cy="58713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Times New Roman" panose="02020603050405020304" pitchFamily="18" charset="0"/>
                <a:cs typeface="Times New Roman" panose="02020603050405020304" pitchFamily="18" charset="0"/>
              </a:rPr>
              <a:t>Presented by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C421CF-56EE-2489-78E4-3EDD1FA1641C}"/>
              </a:ext>
            </a:extLst>
          </p:cNvPr>
          <p:cNvSpPr txBox="1">
            <a:spLocks/>
          </p:cNvSpPr>
          <p:nvPr/>
        </p:nvSpPr>
        <p:spPr>
          <a:xfrm>
            <a:off x="1451579" y="2015733"/>
            <a:ext cx="9603275" cy="253594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74090" marR="687070" indent="-285750"/>
            <a:r>
              <a:rPr lang="en-US" sz="1800" b="1" dirty="0">
                <a:latin typeface="Times New Roman" panose="02020603050405020304" pitchFamily="18" charset="0"/>
                <a:ea typeface="Times New Roman" panose="02020603050405020304" pitchFamily="18" charset="0"/>
                <a:cs typeface="Times New Roman" panose="02020603050405020304" pitchFamily="18" charset="0"/>
              </a:rPr>
              <a:t>Miss. Niharika Viraj Achrekar (02)</a:t>
            </a:r>
          </a:p>
          <a:p>
            <a:pPr marL="974090" marR="687070" indent="-285750"/>
            <a:r>
              <a:rPr lang="en-US" sz="1800" b="1" dirty="0">
                <a:latin typeface="Times New Roman" panose="02020603050405020304" pitchFamily="18" charset="0"/>
                <a:ea typeface="Times New Roman" panose="02020603050405020304" pitchFamily="18" charset="0"/>
                <a:cs typeface="Times New Roman" panose="02020603050405020304" pitchFamily="18" charset="0"/>
              </a:rPr>
              <a:t>Mr. Dhiraj Rakesh Sahani (32)</a:t>
            </a:r>
          </a:p>
          <a:p>
            <a:pPr marL="974090" marR="687070" indent="-285750"/>
            <a:r>
              <a:rPr lang="en-US" sz="1800" b="1" dirty="0">
                <a:latin typeface="Times New Roman" panose="02020603050405020304" pitchFamily="18" charset="0"/>
                <a:ea typeface="Times New Roman" panose="02020603050405020304" pitchFamily="18" charset="0"/>
                <a:cs typeface="Times New Roman" panose="02020603050405020304" pitchFamily="18" charset="0"/>
              </a:rPr>
              <a:t>Mr. Alvin (35)</a:t>
            </a:r>
          </a:p>
          <a:p>
            <a:pPr marL="974090" marR="687070" indent="-285750"/>
            <a:r>
              <a:rPr lang="en-US" sz="1800" b="1" dirty="0">
                <a:latin typeface="Times New Roman" panose="02020603050405020304" pitchFamily="18" charset="0"/>
                <a:ea typeface="Times New Roman" panose="02020603050405020304" pitchFamily="18" charset="0"/>
                <a:cs typeface="Times New Roman" panose="02020603050405020304" pitchFamily="18" charset="0"/>
              </a:rPr>
              <a:t>Mr. Shubham Anil Shinde (52)</a:t>
            </a:r>
          </a:p>
          <a:p>
            <a:pPr marL="974090" marR="687070" indent="-285750"/>
            <a:r>
              <a:rPr lang="en-US" sz="1800" b="1" dirty="0">
                <a:latin typeface="Times New Roman" panose="02020603050405020304" pitchFamily="18" charset="0"/>
                <a:ea typeface="Times New Roman" panose="02020603050405020304" pitchFamily="18" charset="0"/>
                <a:cs typeface="Times New Roman" panose="02020603050405020304" pitchFamily="18" charset="0"/>
              </a:rPr>
              <a:t>Mr. Sanmesh Sanjay Sawant (57)</a:t>
            </a:r>
          </a:p>
          <a:p>
            <a:pPr marL="0" indent="0">
              <a:buFont typeface="Arial" panose="020B0604020202020204" pitchFamily="34" charset="0"/>
              <a:buNone/>
            </a:pPr>
            <a:r>
              <a:rPr lang="en-US" sz="18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624C25-D2A8-DC58-7077-D1029A3FD69B}"/>
              </a:ext>
            </a:extLst>
          </p:cNvPr>
          <p:cNvSpPr txBox="1"/>
          <p:nvPr/>
        </p:nvSpPr>
        <p:spPr>
          <a:xfrm>
            <a:off x="1451579" y="4389120"/>
            <a:ext cx="10110501" cy="1354217"/>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Project Guide :-</a:t>
            </a:r>
          </a:p>
          <a:p>
            <a:endParaRPr lang="en-US" sz="3200" b="1" dirty="0">
              <a:latin typeface="Times New Roman" panose="02020603050405020304" pitchFamily="18" charset="0"/>
              <a:cs typeface="Times New Roman" panose="02020603050405020304" pitchFamily="18" charset="0"/>
            </a:endParaRPr>
          </a:p>
          <a:p>
            <a:pPr marL="285750" indent="-285750">
              <a:buClr>
                <a:srgbClr val="C00000"/>
              </a:buCl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Prof .Miss.P.P.Farakte</a:t>
            </a:r>
            <a:endParaRPr lang="en-IN" b="1"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41D7CBA4-3302-86BB-39A2-7B2BCE381944}"/>
              </a:ext>
            </a:extLst>
          </p:cNvPr>
          <p:cNvCxnSpPr>
            <a:cxnSpLocks/>
          </p:cNvCxnSpPr>
          <p:nvPr/>
        </p:nvCxnSpPr>
        <p:spPr>
          <a:xfrm flipV="1">
            <a:off x="1494047" y="5172143"/>
            <a:ext cx="9246374" cy="1807"/>
          </a:xfrm>
          <a:prstGeom prst="line">
            <a:avLst/>
          </a:prstGeom>
        </p:spPr>
        <p:style>
          <a:lnRef idx="3">
            <a:schemeClr val="accent1"/>
          </a:lnRef>
          <a:fillRef idx="0">
            <a:schemeClr val="accent1"/>
          </a:fillRef>
          <a:effectRef idx="2">
            <a:schemeClr val="accent1"/>
          </a:effectRef>
          <a:fontRef idx="minor">
            <a:schemeClr val="tx1"/>
          </a:fontRef>
        </p:style>
      </p:cxnSp>
      <p:cxnSp>
        <p:nvCxnSpPr>
          <p:cNvPr id="6" name="Straight Connector 5">
            <a:extLst>
              <a:ext uri="{FF2B5EF4-FFF2-40B4-BE49-F238E27FC236}">
                <a16:creationId xmlns:a16="http://schemas.microsoft.com/office/drawing/2014/main" id="{E403C542-D366-74E2-4C88-BEEF1AD473FA}"/>
              </a:ext>
            </a:extLst>
          </p:cNvPr>
          <p:cNvCxnSpPr>
            <a:cxnSpLocks/>
          </p:cNvCxnSpPr>
          <p:nvPr/>
        </p:nvCxnSpPr>
        <p:spPr>
          <a:xfrm flipV="1">
            <a:off x="1494047" y="1700984"/>
            <a:ext cx="9246374" cy="1807"/>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51687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2E49F-3CC0-5042-73E1-93AF72FA195A}"/>
              </a:ext>
            </a:extLst>
          </p:cNvPr>
          <p:cNvSpPr txBox="1">
            <a:spLocks/>
          </p:cNvSpPr>
          <p:nvPr/>
        </p:nvSpPr>
        <p:spPr>
          <a:xfrm>
            <a:off x="1451579" y="804519"/>
            <a:ext cx="9603275" cy="10492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Outline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0C36D1-F0D8-5900-DEFE-13555C4F7E3D}"/>
              </a:ext>
            </a:extLst>
          </p:cNvPr>
          <p:cNvSpPr txBox="1">
            <a:spLocks/>
          </p:cNvSpPr>
          <p:nvPr/>
        </p:nvSpPr>
        <p:spPr>
          <a:xfrm>
            <a:off x="1451579" y="2015732"/>
            <a:ext cx="9603275" cy="34506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Times New Roman" panose="02020603050405020304" pitchFamily="18" charset="0"/>
                <a:cs typeface="Times New Roman" panose="02020603050405020304" pitchFamily="18" charset="0"/>
              </a:rPr>
              <a:t>Introduction </a:t>
            </a:r>
          </a:p>
          <a:p>
            <a:r>
              <a:rPr lang="en-US" sz="1800" dirty="0">
                <a:latin typeface="Times New Roman" panose="02020603050405020304" pitchFamily="18" charset="0"/>
                <a:cs typeface="Times New Roman" panose="02020603050405020304" pitchFamily="18" charset="0"/>
              </a:rPr>
              <a:t>Literature Review</a:t>
            </a:r>
          </a:p>
          <a:p>
            <a:r>
              <a:rPr lang="en-US" sz="1800" dirty="0">
                <a:latin typeface="Times New Roman" panose="02020603050405020304" pitchFamily="18" charset="0"/>
                <a:cs typeface="Times New Roman" panose="02020603050405020304" pitchFamily="18" charset="0"/>
              </a:rPr>
              <a:t>Proposed Work</a:t>
            </a:r>
          </a:p>
          <a:p>
            <a:r>
              <a:rPr lang="en-US" sz="1800" dirty="0">
                <a:latin typeface="Times New Roman" panose="02020603050405020304" pitchFamily="18" charset="0"/>
                <a:cs typeface="Times New Roman" panose="02020603050405020304" pitchFamily="18" charset="0"/>
              </a:rPr>
              <a:t>Block Diagram</a:t>
            </a:r>
          </a:p>
          <a:p>
            <a:r>
              <a:rPr lang="en-US" sz="1800" dirty="0">
                <a:latin typeface="Times New Roman" panose="02020603050405020304" pitchFamily="18" charset="0"/>
                <a:cs typeface="Times New Roman" panose="02020603050405020304" pitchFamily="18" charset="0"/>
              </a:rPr>
              <a:t>Components</a:t>
            </a:r>
          </a:p>
          <a:p>
            <a:r>
              <a:rPr lang="en-US" sz="1800" dirty="0">
                <a:latin typeface="Times New Roman" panose="02020603050405020304" pitchFamily="18" charset="0"/>
                <a:cs typeface="Times New Roman" panose="02020603050405020304" pitchFamily="18" charset="0"/>
              </a:rPr>
              <a:t>Objective</a:t>
            </a:r>
          </a:p>
          <a:p>
            <a:r>
              <a:rPr lang="en-US" sz="1800" dirty="0">
                <a:latin typeface="Times New Roman" panose="02020603050405020304" pitchFamily="18" charset="0"/>
                <a:cs typeface="Times New Roman" panose="02020603050405020304" pitchFamily="18" charset="0"/>
              </a:rPr>
              <a:t>Flowchart</a:t>
            </a:r>
          </a:p>
          <a:p>
            <a:r>
              <a:rPr lang="en-US" sz="1800" dirty="0">
                <a:latin typeface="Times New Roman" panose="02020603050405020304" pitchFamily="18" charset="0"/>
                <a:cs typeface="Times New Roman" panose="02020603050405020304" pitchFamily="18" charset="0"/>
              </a:rPr>
              <a:t>Expected Outcome</a:t>
            </a: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DB157265-A886-3661-34EA-9EFBF44EC86A}"/>
              </a:ext>
            </a:extLst>
          </p:cNvPr>
          <p:cNvCxnSpPr>
            <a:cxnSpLocks/>
          </p:cNvCxnSpPr>
          <p:nvPr/>
        </p:nvCxnSpPr>
        <p:spPr>
          <a:xfrm flipV="1">
            <a:off x="1494047" y="1700984"/>
            <a:ext cx="9246374" cy="1807"/>
          </a:xfrm>
          <a:prstGeom prst="line">
            <a:avLst/>
          </a:prstGeom>
        </p:spPr>
        <p:style>
          <a:lnRef idx="3">
            <a:schemeClr val="accent1"/>
          </a:lnRef>
          <a:fillRef idx="0">
            <a:schemeClr val="accent1"/>
          </a:fillRef>
          <a:effectRef idx="2">
            <a:schemeClr val="accent1"/>
          </a:effectRef>
          <a:fontRef idx="minor">
            <a:schemeClr val="tx1"/>
          </a:fontRef>
        </p:style>
      </p:cxnSp>
      <p:pic>
        <p:nvPicPr>
          <p:cNvPr id="7" name="Picture 6">
            <a:extLst>
              <a:ext uri="{FF2B5EF4-FFF2-40B4-BE49-F238E27FC236}">
                <a16:creationId xmlns:a16="http://schemas.microsoft.com/office/drawing/2014/main" id="{A567616F-514B-1A59-62F7-4DC0FAA71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7121" y="1950450"/>
            <a:ext cx="5603300" cy="3735533"/>
          </a:xfrm>
          <a:prstGeom prst="rect">
            <a:avLst/>
          </a:prstGeom>
        </p:spPr>
      </p:pic>
    </p:spTree>
    <p:extLst>
      <p:ext uri="{BB962C8B-B14F-4D97-AF65-F5344CB8AC3E}">
        <p14:creationId xmlns:p14="http://schemas.microsoft.com/office/powerpoint/2010/main" val="124155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3">
                                            <p:txEl>
                                              <p:pRg st="5" end="5"/>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p:cTn id="37"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6" end="6"/>
                                            </p:txEl>
                                          </p:spTgt>
                                        </p:tgtEl>
                                        <p:attrNameLst>
                                          <p:attrName>ppt_h</p:attrName>
                                        </p:attrNameLst>
                                      </p:cBhvr>
                                      <p:tavLst>
                                        <p:tav tm="0">
                                          <p:val>
                                            <p:fltVal val="0"/>
                                          </p:val>
                                        </p:tav>
                                        <p:tav tm="100000">
                                          <p:val>
                                            <p:strVal val="#ppt_h"/>
                                          </p:val>
                                        </p:tav>
                                      </p:tavLst>
                                    </p:anim>
                                    <p:animEffect transition="in" filter="fade">
                                      <p:cBhvr>
                                        <p:cTn id="39" dur="500"/>
                                        <p:tgtEl>
                                          <p:spTgt spid="3">
                                            <p:txEl>
                                              <p:pRg st="6" end="6"/>
                                            </p:txEl>
                                          </p:spTgt>
                                        </p:tgtEl>
                                      </p:cBhvr>
                                    </p:animEffect>
                                  </p:childTnLst>
                                </p:cTn>
                              </p:par>
                              <p:par>
                                <p:cTn id="40" presetID="53" presetClass="entr" presetSubtype="16"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p:cTn id="42"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CEF32A-B349-4E8E-B44E-F50674A72F34}"/>
              </a:ext>
            </a:extLst>
          </p:cNvPr>
          <p:cNvSpPr txBox="1"/>
          <p:nvPr/>
        </p:nvSpPr>
        <p:spPr>
          <a:xfrm>
            <a:off x="1712259" y="2196353"/>
            <a:ext cx="9296399" cy="3693319"/>
          </a:xfrm>
          <a:prstGeom prst="rect">
            <a:avLst/>
          </a:prstGeom>
          <a:noFill/>
        </p:spPr>
        <p:txBody>
          <a:bodyPr wrap="square">
            <a:spAutoFit/>
          </a:bodyPr>
          <a:lstStyle/>
          <a:p>
            <a:pPr algn="just"/>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Departmental Library Management System. In an era driven by information and technology, managing resources and facilitating easy access to knowledge is paramount.  Our project aims to revolutionize the way academic institutions handle their libraries, offering a comprehensive solution that empowers both students and staff. </a:t>
            </a:r>
          </a:p>
          <a:p>
            <a:pPr algn="just"/>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Departmental Library Management System is designed to streamline and enhance the traditional library experience. This digital platform not only manages the physical collection of books but also integrates seamlessly with the digital resources available today. It embodies the fusion of technology and education, enabling users to explore, learn, and grow in an environment tailored for efficiency and convenience.</a:t>
            </a:r>
          </a:p>
          <a:p>
            <a:pPr algn="just"/>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With this system, library administrators can efficiently catalog, organize, and track books, journals, and other learning materials. </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563F2DF-10CC-FEC2-0988-F6AEDE24533F}"/>
              </a:ext>
            </a:extLst>
          </p:cNvPr>
          <p:cNvSpPr txBox="1"/>
          <p:nvPr/>
        </p:nvSpPr>
        <p:spPr>
          <a:xfrm>
            <a:off x="923365" y="815788"/>
            <a:ext cx="1738168" cy="461665"/>
          </a:xfrm>
          <a:prstGeom prst="rect">
            <a:avLst/>
          </a:prstGeom>
          <a:noFill/>
        </p:spPr>
        <p:txBody>
          <a:bodyPr wrap="none" rtlCol="0">
            <a:spAutoFit/>
          </a:bodyPr>
          <a:lstStyle/>
          <a:p>
            <a:r>
              <a:rPr lang="en-IN" sz="2400" dirty="0">
                <a:latin typeface="Times New Roman" panose="02020603050405020304" pitchFamily="18" charset="0"/>
                <a:cs typeface="Times New Roman" panose="02020603050405020304" pitchFamily="18" charset="0"/>
              </a:rPr>
              <a:t>Introduction</a:t>
            </a:r>
          </a:p>
        </p:txBody>
      </p:sp>
      <p:cxnSp>
        <p:nvCxnSpPr>
          <p:cNvPr id="5" name="Straight Connector 4">
            <a:extLst>
              <a:ext uri="{FF2B5EF4-FFF2-40B4-BE49-F238E27FC236}">
                <a16:creationId xmlns:a16="http://schemas.microsoft.com/office/drawing/2014/main" id="{0CA0896A-467A-859A-8E2A-51DA124D762C}"/>
              </a:ext>
            </a:extLst>
          </p:cNvPr>
          <p:cNvCxnSpPr>
            <a:cxnSpLocks/>
          </p:cNvCxnSpPr>
          <p:nvPr/>
        </p:nvCxnSpPr>
        <p:spPr>
          <a:xfrm flipV="1">
            <a:off x="919119" y="1493560"/>
            <a:ext cx="9246374" cy="1807"/>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60730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5CA2-83A6-D263-9CA5-7931837417FD}"/>
              </a:ext>
            </a:extLst>
          </p:cNvPr>
          <p:cNvSpPr txBox="1">
            <a:spLocks/>
          </p:cNvSpPr>
          <p:nvPr/>
        </p:nvSpPr>
        <p:spPr>
          <a:xfrm>
            <a:off x="1451579" y="804519"/>
            <a:ext cx="9603275" cy="10492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Literature Review :-</a:t>
            </a:r>
          </a:p>
        </p:txBody>
      </p:sp>
      <p:sp>
        <p:nvSpPr>
          <p:cNvPr id="3" name="Content Placeholder 2">
            <a:extLst>
              <a:ext uri="{FF2B5EF4-FFF2-40B4-BE49-F238E27FC236}">
                <a16:creationId xmlns:a16="http://schemas.microsoft.com/office/drawing/2014/main" id="{07A72ECC-208F-EAD5-79BE-55BF6AD28CEA}"/>
              </a:ext>
            </a:extLst>
          </p:cNvPr>
          <p:cNvSpPr txBox="1">
            <a:spLocks/>
          </p:cNvSpPr>
          <p:nvPr/>
        </p:nvSpPr>
        <p:spPr>
          <a:xfrm>
            <a:off x="1451579" y="2015732"/>
            <a:ext cx="9603275" cy="345061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Times New Roman" panose="02020603050405020304" pitchFamily="18" charset="0"/>
                <a:cs typeface="Times New Roman" panose="02020603050405020304" pitchFamily="18" charset="0"/>
              </a:rPr>
              <a:t>[1].</a:t>
            </a:r>
            <a:r>
              <a:rPr lang="en-US" sz="1800" dirty="0" err="1">
                <a:latin typeface="Times New Roman" panose="02020603050405020304" pitchFamily="18" charset="0"/>
                <a:cs typeface="Times New Roman" panose="02020603050405020304" pitchFamily="18" charset="0"/>
              </a:rPr>
              <a:t>Morium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Morshe</a:t>
            </a:r>
            <a:r>
              <a:rPr lang="en-US" sz="1800" dirty="0">
                <a:latin typeface="Times New Roman" panose="02020603050405020304" pitchFamily="18" charset="0"/>
                <a:cs typeface="Times New Roman" panose="02020603050405020304" pitchFamily="18" charset="0"/>
              </a:rPr>
              <a:t> “Open-Source Library Management System”, </a:t>
            </a:r>
            <a:r>
              <a:rPr lang="en-US" sz="1800" dirty="0" err="1">
                <a:latin typeface="Times New Roman" panose="02020603050405020304" pitchFamily="18" charset="0"/>
                <a:cs typeface="Times New Roman" panose="02020603050405020304" pitchFamily="18" charset="0"/>
              </a:rPr>
              <a:t>Brac</a:t>
            </a:r>
            <a:r>
              <a:rPr lang="en-US" sz="1800" dirty="0">
                <a:latin typeface="Times New Roman" panose="02020603050405020304" pitchFamily="18" charset="0"/>
                <a:cs typeface="Times New Roman" panose="02020603050405020304" pitchFamily="18" charset="0"/>
              </a:rPr>
              <a:t> University Department of Computer Science and Engineering in September 2008.</a:t>
            </a:r>
          </a:p>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1800" dirty="0">
                <a:latin typeface="Times New Roman" panose="02020603050405020304" pitchFamily="18" charset="0"/>
                <a:cs typeface="Times New Roman" panose="02020603050405020304" pitchFamily="18" charset="0"/>
              </a:rPr>
              <a:t>[2].</a:t>
            </a:r>
            <a:r>
              <a:rPr lang="en-US" sz="1800" dirty="0" err="1">
                <a:latin typeface="Times New Roman" panose="02020603050405020304" pitchFamily="18" charset="0"/>
                <a:cs typeface="Times New Roman" panose="02020603050405020304" pitchFamily="18" charset="0"/>
              </a:rPr>
              <a:t>Adebesin</a:t>
            </a:r>
            <a:r>
              <a:rPr lang="en-US" sz="1800" dirty="0">
                <a:latin typeface="Times New Roman" panose="02020603050405020304" pitchFamily="18" charset="0"/>
                <a:cs typeface="Times New Roman" panose="02020603050405020304" pitchFamily="18" charset="0"/>
              </a:rPr>
              <a:t> Tobi </a:t>
            </a:r>
            <a:r>
              <a:rPr lang="en-US" sz="1800" dirty="0" err="1">
                <a:latin typeface="Times New Roman" panose="02020603050405020304" pitchFamily="18" charset="0"/>
                <a:cs typeface="Times New Roman" panose="02020603050405020304" pitchFamily="18" charset="0"/>
              </a:rPr>
              <a:t>Tosin</a:t>
            </a:r>
            <a:r>
              <a:rPr lang="en-US" sz="1800" dirty="0">
                <a:latin typeface="Times New Roman" panose="02020603050405020304" pitchFamily="18" charset="0"/>
                <a:cs typeface="Times New Roman" panose="02020603050405020304" pitchFamily="18" charset="0"/>
              </a:rPr>
              <a:t> “Library Management System” The Department of Computer Science, Faculty of Science, Federal University Ekiti, State, Nigeria in October, 2015.</a:t>
            </a:r>
          </a:p>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1800" dirty="0">
                <a:latin typeface="Times New Roman" panose="02020603050405020304" pitchFamily="18" charset="0"/>
                <a:cs typeface="Times New Roman" panose="02020603050405020304" pitchFamily="18" charset="0"/>
              </a:rPr>
              <a:t>[3].Prabhakar Kumar, Rahul Kumar, Rajat Singh, Vikram Pratap Singh “Library Management System” By Cochin University of Science &amp; Technology Kochi 2014.</a:t>
            </a:r>
          </a:p>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1800" dirty="0">
                <a:latin typeface="Times New Roman" panose="02020603050405020304" pitchFamily="18" charset="0"/>
                <a:cs typeface="Times New Roman" panose="02020603050405020304" pitchFamily="18" charset="0"/>
              </a:rPr>
              <a:t>[4].Shanmugam, </a:t>
            </a:r>
            <a:r>
              <a:rPr lang="en-US" sz="1800" dirty="0" err="1">
                <a:latin typeface="Times New Roman" panose="02020603050405020304" pitchFamily="18" charset="0"/>
                <a:cs typeface="Times New Roman" panose="02020603050405020304" pitchFamily="18" charset="0"/>
              </a:rPr>
              <a:t>Ramalakshmi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Sasthri</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Baalachandran</a:t>
            </a:r>
            <a:r>
              <a:rPr lang="en-US" sz="1800" dirty="0">
                <a:latin typeface="Times New Roman" panose="02020603050405020304" pitchFamily="18" charset="0"/>
                <a:cs typeface="Times New Roman" panose="02020603050405020304" pitchFamily="18" charset="0"/>
              </a:rPr>
              <a:t>, “Library Management System” Article in Journal of Xi An University Of Architecture &amp; Technology Coimbatore In December 2020</a:t>
            </a:r>
          </a:p>
          <a:p>
            <a:pPr marL="0" indent="0">
              <a:buFont typeface="Arial" panose="020B0604020202020204" pitchFamily="34" charse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6150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270AB-D2DB-20AA-0173-2EF470142E0C}"/>
              </a:ext>
            </a:extLst>
          </p:cNvPr>
          <p:cNvSpPr txBox="1">
            <a:spLocks/>
          </p:cNvSpPr>
          <p:nvPr/>
        </p:nvSpPr>
        <p:spPr>
          <a:xfrm>
            <a:off x="1451579" y="804519"/>
            <a:ext cx="9603275" cy="10492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dirty="0">
                <a:latin typeface="Times New Roman" panose="02020603050405020304" pitchFamily="18" charset="0"/>
                <a:cs typeface="Times New Roman" panose="02020603050405020304" pitchFamily="18" charset="0"/>
              </a:rPr>
              <a:t>PROPOSED WORK :-</a:t>
            </a:r>
          </a:p>
        </p:txBody>
      </p:sp>
      <p:sp>
        <p:nvSpPr>
          <p:cNvPr id="3" name="Content Placeholder 2">
            <a:extLst>
              <a:ext uri="{FF2B5EF4-FFF2-40B4-BE49-F238E27FC236}">
                <a16:creationId xmlns:a16="http://schemas.microsoft.com/office/drawing/2014/main" id="{28CE3B22-975A-5175-4AE8-BD5097E2DA9E}"/>
              </a:ext>
            </a:extLst>
          </p:cNvPr>
          <p:cNvSpPr txBox="1">
            <a:spLocks/>
          </p:cNvSpPr>
          <p:nvPr/>
        </p:nvSpPr>
        <p:spPr>
          <a:xfrm>
            <a:off x="1451579" y="1853755"/>
            <a:ext cx="9603275" cy="46336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proposed work for the Departmental Library Management System (DLMS) project encompasses a series of systematic steps and activities aimed at designing, developing, and implementing an efficient and user-friendly library management solution tailored specifically for departmental libraries within educational institutions. The project's scope and objectives are outlined below:</a:t>
            </a:r>
          </a:p>
          <a:p>
            <a:pPr marL="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 System Design</a:t>
            </a:r>
          </a:p>
          <a:p>
            <a:pPr marL="0" indent="0" algn="just">
              <a:lnSpc>
                <a:spcPct val="107000"/>
              </a:lnSpc>
              <a:spcAft>
                <a:spcPts val="800"/>
              </a:spcAft>
              <a:buNone/>
            </a:pPr>
            <a:r>
              <a:rPr lang="en-IN" sz="1800" b="1" kern="100" dirty="0">
                <a:latin typeface="Times New Roman" panose="02020603050405020304" pitchFamily="18" charset="0"/>
                <a:ea typeface="Calibri" panose="020F0502020204030204" pitchFamily="34" charset="0"/>
                <a:cs typeface="Times New Roman" panose="02020603050405020304" pitchFamily="18" charset="0"/>
              </a:rPr>
              <a:t>2.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Database Development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3. User Interface Development</a:t>
            </a:r>
          </a:p>
          <a:p>
            <a:pPr marL="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4. Resource Cataloguing and Integration</a:t>
            </a:r>
          </a:p>
          <a:p>
            <a:pPr marL="0" indent="0" algn="just">
              <a:lnSpc>
                <a:spcPct val="107000"/>
              </a:lnSpc>
              <a:spcAft>
                <a:spcPts val="800"/>
              </a:spcAft>
              <a:buNone/>
            </a:pPr>
            <a:r>
              <a:rPr lang="en-IN" sz="1800" b="1" dirty="0">
                <a:effectLst/>
                <a:latin typeface="Times New Roman" panose="02020603050405020304" pitchFamily="18" charset="0"/>
                <a:ea typeface="Calibri" panose="020F0502020204030204" pitchFamily="34" charset="0"/>
              </a:rPr>
              <a:t>5. Analytics and Reporting</a:t>
            </a:r>
          </a:p>
          <a:p>
            <a:pPr marL="0"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6. </a:t>
            </a:r>
            <a:r>
              <a:rPr lang="en-IN" sz="1800" b="1" dirty="0">
                <a:effectLst/>
                <a:latin typeface="Times New Roman" panose="02020603050405020304" pitchFamily="18" charset="0"/>
                <a:ea typeface="Calibri" panose="020F0502020204030204" pitchFamily="34" charset="0"/>
              </a:rPr>
              <a:t>User Training and Documentation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3A1FF5D6-63BB-CF3D-A957-AFC760E9E35A}"/>
              </a:ext>
            </a:extLst>
          </p:cNvPr>
          <p:cNvCxnSpPr>
            <a:cxnSpLocks/>
          </p:cNvCxnSpPr>
          <p:nvPr/>
        </p:nvCxnSpPr>
        <p:spPr>
          <a:xfrm flipV="1">
            <a:off x="1494047" y="1700984"/>
            <a:ext cx="9246374" cy="1807"/>
          </a:xfrm>
          <a:prstGeom prst="line">
            <a:avLst/>
          </a:prstGeom>
        </p:spPr>
        <p:style>
          <a:lnRef idx="3">
            <a:schemeClr val="accent1"/>
          </a:lnRef>
          <a:fillRef idx="0">
            <a:schemeClr val="accent1"/>
          </a:fillRef>
          <a:effectRef idx="2">
            <a:schemeClr val="accent1"/>
          </a:effectRef>
          <a:fontRef idx="minor">
            <a:schemeClr val="tx1"/>
          </a:fontRef>
        </p:style>
      </p:cxnSp>
      <p:pic>
        <p:nvPicPr>
          <p:cNvPr id="6" name="Picture 5">
            <a:extLst>
              <a:ext uri="{FF2B5EF4-FFF2-40B4-BE49-F238E27FC236}">
                <a16:creationId xmlns:a16="http://schemas.microsoft.com/office/drawing/2014/main" id="{79038BA6-ADA5-F74F-14BE-63887843CF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0218" y="3034318"/>
            <a:ext cx="2448267" cy="3353268"/>
          </a:xfrm>
          <a:prstGeom prst="rect">
            <a:avLst/>
          </a:prstGeom>
        </p:spPr>
      </p:pic>
    </p:spTree>
    <p:extLst>
      <p:ext uri="{BB962C8B-B14F-4D97-AF65-F5344CB8AC3E}">
        <p14:creationId xmlns:p14="http://schemas.microsoft.com/office/powerpoint/2010/main" val="3934202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FA2C4A-DF29-E737-06F9-0D8ED6685C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4393" y="1267019"/>
            <a:ext cx="8458955" cy="5317446"/>
          </a:xfrm>
          <a:prstGeom prst="rect">
            <a:avLst/>
          </a:prstGeom>
        </p:spPr>
      </p:pic>
      <p:sp>
        <p:nvSpPr>
          <p:cNvPr id="4" name="TextBox 3">
            <a:extLst>
              <a:ext uri="{FF2B5EF4-FFF2-40B4-BE49-F238E27FC236}">
                <a16:creationId xmlns:a16="http://schemas.microsoft.com/office/drawing/2014/main" id="{E28CDA73-FE3D-2D27-C7A6-F6CD73EC8865}"/>
              </a:ext>
            </a:extLst>
          </p:cNvPr>
          <p:cNvSpPr txBox="1"/>
          <p:nvPr/>
        </p:nvSpPr>
        <p:spPr>
          <a:xfrm>
            <a:off x="682859" y="498365"/>
            <a:ext cx="2132059"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Block Diagram</a:t>
            </a:r>
            <a:endParaRPr lang="en-IN" sz="2400" dirty="0">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5EA910ED-90A0-1CFB-605F-BDAD14FED39A}"/>
              </a:ext>
            </a:extLst>
          </p:cNvPr>
          <p:cNvCxnSpPr>
            <a:cxnSpLocks/>
          </p:cNvCxnSpPr>
          <p:nvPr/>
        </p:nvCxnSpPr>
        <p:spPr>
          <a:xfrm flipV="1">
            <a:off x="1012783" y="1268742"/>
            <a:ext cx="9748547" cy="84"/>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3742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66CD0-BA9E-3387-BFD7-7C0CA8BBD6D0}"/>
              </a:ext>
            </a:extLst>
          </p:cNvPr>
          <p:cNvSpPr txBox="1">
            <a:spLocks/>
          </p:cNvSpPr>
          <p:nvPr/>
        </p:nvSpPr>
        <p:spPr>
          <a:xfrm>
            <a:off x="1451579" y="1005840"/>
            <a:ext cx="9603275" cy="69088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dirty="0">
                <a:latin typeface="Times New Roman" panose="02020603050405020304" pitchFamily="18" charset="0"/>
                <a:cs typeface="Times New Roman" panose="02020603050405020304" pitchFamily="18" charset="0"/>
              </a:rPr>
              <a:t>Objective :-</a:t>
            </a:r>
          </a:p>
        </p:txBody>
      </p:sp>
      <p:cxnSp>
        <p:nvCxnSpPr>
          <p:cNvPr id="3" name="Straight Connector 2">
            <a:extLst>
              <a:ext uri="{FF2B5EF4-FFF2-40B4-BE49-F238E27FC236}">
                <a16:creationId xmlns:a16="http://schemas.microsoft.com/office/drawing/2014/main" id="{75C08BCA-1F23-6E37-0419-499F53FAC532}"/>
              </a:ext>
            </a:extLst>
          </p:cNvPr>
          <p:cNvCxnSpPr>
            <a:cxnSpLocks/>
          </p:cNvCxnSpPr>
          <p:nvPr/>
        </p:nvCxnSpPr>
        <p:spPr>
          <a:xfrm flipV="1">
            <a:off x="1494047" y="1700984"/>
            <a:ext cx="9246374" cy="1807"/>
          </a:xfrm>
          <a:prstGeom prst="line">
            <a:avLst/>
          </a:prstGeom>
        </p:spPr>
        <p:style>
          <a:lnRef idx="3">
            <a:schemeClr val="accent1"/>
          </a:lnRef>
          <a:fillRef idx="0">
            <a:schemeClr val="accent1"/>
          </a:fillRef>
          <a:effectRef idx="2">
            <a:schemeClr val="accent1"/>
          </a:effectRef>
          <a:fontRef idx="minor">
            <a:schemeClr val="tx1"/>
          </a:fontRef>
        </p:style>
      </p:cxnSp>
      <p:sp>
        <p:nvSpPr>
          <p:cNvPr id="4" name="Content Placeholder 2">
            <a:extLst>
              <a:ext uri="{FF2B5EF4-FFF2-40B4-BE49-F238E27FC236}">
                <a16:creationId xmlns:a16="http://schemas.microsoft.com/office/drawing/2014/main" id="{0347D491-763B-6E8E-B1E4-4B5B65AE8436}"/>
              </a:ext>
            </a:extLst>
          </p:cNvPr>
          <p:cNvSpPr txBox="1">
            <a:spLocks/>
          </p:cNvSpPr>
          <p:nvPr/>
        </p:nvSpPr>
        <p:spPr>
          <a:xfrm>
            <a:off x="1451579" y="2015732"/>
            <a:ext cx="9603275" cy="345061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5000"/>
              </a:lnSpc>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Automate tasks related to resource circulation, reporting, and inventory.</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Implement security measures to protect user data and privacy.</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Collect and analyze data to inform resource acquisition and library policy decisions.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Efficiently manage and allocate resources within departmental libraries.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895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52123852-EAC0-87A1-7819-28108D66EF1D}"/>
              </a:ext>
            </a:extLst>
          </p:cNvPr>
          <p:cNvPicPr>
            <a:picLocks noChangeAspect="1"/>
          </p:cNvPicPr>
          <p:nvPr/>
        </p:nvPicPr>
        <p:blipFill rotWithShape="1">
          <a:blip r:embed="rId2">
            <a:extLst>
              <a:ext uri="{28A0092B-C50C-407E-A947-70E740481C1C}">
                <a14:useLocalDpi xmlns:a14="http://schemas.microsoft.com/office/drawing/2010/main" val="0"/>
              </a:ext>
            </a:extLst>
          </a:blip>
          <a:srcRect b="7221"/>
          <a:stretch/>
        </p:blipFill>
        <p:spPr>
          <a:xfrm>
            <a:off x="3890848" y="-71718"/>
            <a:ext cx="5429142" cy="6858000"/>
          </a:xfrm>
          <a:prstGeom prst="rect">
            <a:avLst/>
          </a:prstGeom>
        </p:spPr>
      </p:pic>
      <p:sp>
        <p:nvSpPr>
          <p:cNvPr id="40" name="TextBox 39">
            <a:extLst>
              <a:ext uri="{FF2B5EF4-FFF2-40B4-BE49-F238E27FC236}">
                <a16:creationId xmlns:a16="http://schemas.microsoft.com/office/drawing/2014/main" id="{3D21A871-243F-AF05-9CA7-45D8DC13F5F7}"/>
              </a:ext>
            </a:extLst>
          </p:cNvPr>
          <p:cNvSpPr txBox="1"/>
          <p:nvPr/>
        </p:nvSpPr>
        <p:spPr>
          <a:xfrm>
            <a:off x="368968" y="420838"/>
            <a:ext cx="2675823" cy="47152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FLOW CHART:-</a:t>
            </a:r>
          </a:p>
        </p:txBody>
      </p:sp>
    </p:spTree>
    <p:extLst>
      <p:ext uri="{BB962C8B-B14F-4D97-AF65-F5344CB8AC3E}">
        <p14:creationId xmlns:p14="http://schemas.microsoft.com/office/powerpoint/2010/main" val="3699721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A5AF65-620B-F430-98E4-775685C9589F}"/>
              </a:ext>
            </a:extLst>
          </p:cNvPr>
          <p:cNvSpPr txBox="1"/>
          <p:nvPr/>
        </p:nvSpPr>
        <p:spPr>
          <a:xfrm>
            <a:off x="1129553" y="577341"/>
            <a:ext cx="2411506"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Component List</a:t>
            </a:r>
            <a:r>
              <a:rPr lang="en-IN" dirty="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BB81F563-5DED-FB2D-70BC-B03C287DB10E}"/>
              </a:ext>
            </a:extLst>
          </p:cNvPr>
          <p:cNvSpPr txBox="1"/>
          <p:nvPr/>
        </p:nvSpPr>
        <p:spPr>
          <a:xfrm>
            <a:off x="2707342" y="1371217"/>
            <a:ext cx="8014447" cy="3416320"/>
          </a:xfrm>
          <a:prstGeom prst="rect">
            <a:avLst/>
          </a:prstGeom>
          <a:noFill/>
        </p:spPr>
        <p:txBody>
          <a:bodyPr wrap="square">
            <a:spAutoFit/>
          </a:bodyPr>
          <a:lstStyle/>
          <a:p>
            <a:r>
              <a:rPr lang="en-IN" dirty="0"/>
              <a:t>Sr No	Item</a:t>
            </a:r>
          </a:p>
          <a:p>
            <a:r>
              <a:rPr lang="en-IN" dirty="0"/>
              <a:t>1	ARDUINO UNO</a:t>
            </a:r>
          </a:p>
          <a:p>
            <a:r>
              <a:rPr lang="en-IN" dirty="0"/>
              <a:t>2	ESP32-CAM</a:t>
            </a:r>
          </a:p>
          <a:p>
            <a:r>
              <a:rPr lang="en-IN" dirty="0"/>
              <a:t>3	ESP8266</a:t>
            </a:r>
          </a:p>
          <a:p>
            <a:r>
              <a:rPr lang="en-IN" dirty="0"/>
              <a:t>4	SIM 800L GSM MODULE</a:t>
            </a:r>
          </a:p>
          <a:p>
            <a:r>
              <a:rPr lang="en-IN" dirty="0"/>
              <a:t>5	FIREBASE SCBSCRIPTION</a:t>
            </a:r>
          </a:p>
          <a:p>
            <a:r>
              <a:rPr lang="en-IN" dirty="0"/>
              <a:t>6	SIM CARD RECHARGE</a:t>
            </a:r>
          </a:p>
          <a:p>
            <a:r>
              <a:rPr lang="en-IN" dirty="0"/>
              <a:t>7	RFID CARD</a:t>
            </a:r>
          </a:p>
          <a:p>
            <a:r>
              <a:rPr lang="en-IN" dirty="0"/>
              <a:t>8	16X2 LCD DISPLAY</a:t>
            </a:r>
          </a:p>
          <a:p>
            <a:r>
              <a:rPr lang="en-IN" dirty="0"/>
              <a:t>9	EM-18 RFID READER</a:t>
            </a:r>
          </a:p>
          <a:p>
            <a:r>
              <a:rPr lang="en-IN" dirty="0"/>
              <a:t>10	METAL BODY</a:t>
            </a:r>
          </a:p>
          <a:p>
            <a:r>
              <a:rPr lang="en-IN" dirty="0"/>
              <a:t> </a:t>
            </a:r>
          </a:p>
        </p:txBody>
      </p:sp>
      <p:pic>
        <p:nvPicPr>
          <p:cNvPr id="3074" name="Picture 2" descr="ESP32 CAM DEVELOPMENT BOARD WIFI+BLUETOOTH WITH OV2640 CAMERA MODULE -  iFuture Technology">
            <a:extLst>
              <a:ext uri="{FF2B5EF4-FFF2-40B4-BE49-F238E27FC236}">
                <a16:creationId xmlns:a16="http://schemas.microsoft.com/office/drawing/2014/main" id="{D71DEEE4-CAB3-D519-DA69-18B90EB45F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95" t="5886" r="5088" b="14623"/>
          <a:stretch/>
        </p:blipFill>
        <p:spPr bwMode="auto">
          <a:xfrm>
            <a:off x="8399737" y="1434353"/>
            <a:ext cx="2752484" cy="2456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73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307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32EF25A-E39D-2257-AF20-8BA2034F1CD7}"/>
              </a:ext>
            </a:extLst>
          </p:cNvPr>
          <p:cNvSpPr txBox="1">
            <a:spLocks/>
          </p:cNvSpPr>
          <p:nvPr/>
        </p:nvSpPr>
        <p:spPr>
          <a:xfrm>
            <a:off x="1451579" y="804519"/>
            <a:ext cx="9603275" cy="10492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dirty="0">
                <a:latin typeface="Times New Roman" panose="02020603050405020304" pitchFamily="18" charset="0"/>
                <a:cs typeface="Times New Roman" panose="02020603050405020304" pitchFamily="18" charset="0"/>
              </a:rPr>
              <a:t>Expected Outcome :</a:t>
            </a:r>
          </a:p>
        </p:txBody>
      </p:sp>
      <p:cxnSp>
        <p:nvCxnSpPr>
          <p:cNvPr id="4" name="Straight Connector 3">
            <a:extLst>
              <a:ext uri="{FF2B5EF4-FFF2-40B4-BE49-F238E27FC236}">
                <a16:creationId xmlns:a16="http://schemas.microsoft.com/office/drawing/2014/main" id="{19A6029A-7C22-AD44-F9B2-B468FC00AFC8}"/>
              </a:ext>
            </a:extLst>
          </p:cNvPr>
          <p:cNvCxnSpPr>
            <a:cxnSpLocks/>
          </p:cNvCxnSpPr>
          <p:nvPr/>
        </p:nvCxnSpPr>
        <p:spPr>
          <a:xfrm flipV="1">
            <a:off x="1494047" y="1700984"/>
            <a:ext cx="9246374" cy="1807"/>
          </a:xfrm>
          <a:prstGeom prst="line">
            <a:avLst/>
          </a:prstGeom>
        </p:spPr>
        <p:style>
          <a:lnRef idx="3">
            <a:schemeClr val="accent1"/>
          </a:lnRef>
          <a:fillRef idx="0">
            <a:schemeClr val="accent1"/>
          </a:fillRef>
          <a:effectRef idx="2">
            <a:schemeClr val="accent1"/>
          </a:effectRef>
          <a:fontRef idx="minor">
            <a:schemeClr val="tx1"/>
          </a:fontRef>
        </p:style>
      </p:cxnSp>
      <p:sp>
        <p:nvSpPr>
          <p:cNvPr id="11" name="TextBox 10">
            <a:extLst>
              <a:ext uri="{FF2B5EF4-FFF2-40B4-BE49-F238E27FC236}">
                <a16:creationId xmlns:a16="http://schemas.microsoft.com/office/drawing/2014/main" id="{C630A249-36E8-2AB8-A3B0-79B86F558AE7}"/>
              </a:ext>
            </a:extLst>
          </p:cNvPr>
          <p:cNvSpPr txBox="1"/>
          <p:nvPr/>
        </p:nvSpPr>
        <p:spPr>
          <a:xfrm>
            <a:off x="1494047" y="2224499"/>
            <a:ext cx="9246374" cy="3512885"/>
          </a:xfrm>
          <a:prstGeom prst="rect">
            <a:avLst/>
          </a:prstGeom>
          <a:noFill/>
        </p:spPr>
        <p:txBody>
          <a:bodyPr wrap="square">
            <a:spAutoFit/>
          </a:bodyPr>
          <a:lstStyle/>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Improved Resource Accessibility</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Efficient Resource Utilization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Real-time Availability Updates Reduced Risk of Loss or Misplacement</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Enhanced Project TimeLine</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Data-driven Decision-making. </a:t>
            </a:r>
          </a:p>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Streamlined Record-keeping and Documentation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Improved Student and Faculty Satisfaction</a:t>
            </a: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15000"/>
              </a:lnSpc>
              <a:spcAft>
                <a:spcPts val="1000"/>
              </a:spcAft>
              <a:buFont typeface="Arial" panose="020B0604020202020204" pitchFamily="34" charset="0"/>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Optimized Return on Investment, Scalability and Adaptability.</a:t>
            </a:r>
            <a:endParaRPr lang="en-IN"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103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27" dur="500"/>
                                        <p:tgtEl>
                                          <p:spTgt spid="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1">
                                            <p:txEl>
                                              <p:pRg st="5" end="5"/>
                                            </p:txEl>
                                          </p:spTgt>
                                        </p:tgtEl>
                                        <p:attrNameLst>
                                          <p:attrName>style.visibility</p:attrName>
                                        </p:attrNameLst>
                                      </p:cBhvr>
                                      <p:to>
                                        <p:strVal val="visible"/>
                                      </p:to>
                                    </p:set>
                                    <p:animEffect transition="in" filter="randombar(horizontal)">
                                      <p:cBhvr>
                                        <p:cTn id="32" dur="500"/>
                                        <p:tgtEl>
                                          <p:spTgt spid="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1">
                                            <p:txEl>
                                              <p:pRg st="6" end="6"/>
                                            </p:txEl>
                                          </p:spTgt>
                                        </p:tgtEl>
                                        <p:attrNameLst>
                                          <p:attrName>style.visibility</p:attrName>
                                        </p:attrNameLst>
                                      </p:cBhvr>
                                      <p:to>
                                        <p:strVal val="visible"/>
                                      </p:to>
                                    </p:set>
                                    <p:animEffect transition="in" filter="randombar(horizontal)">
                                      <p:cBhvr>
                                        <p:cTn id="37" dur="500"/>
                                        <p:tgtEl>
                                          <p:spTgt spid="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1">
                                            <p:txEl>
                                              <p:pRg st="7" end="7"/>
                                            </p:txEl>
                                          </p:spTgt>
                                        </p:tgtEl>
                                        <p:attrNameLst>
                                          <p:attrName>style.visibility</p:attrName>
                                        </p:attrNameLst>
                                      </p:cBhvr>
                                      <p:to>
                                        <p:strVal val="visible"/>
                                      </p:to>
                                    </p:set>
                                    <p:animEffect transition="in" filter="randombar(horizontal)">
                                      <p:cBhvr>
                                        <p:cTn id="42" dur="500"/>
                                        <p:tgtEl>
                                          <p:spTgt spid="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573</Words>
  <Application>Microsoft Office PowerPoint</Application>
  <PresentationFormat>Widescreen</PresentationFormat>
  <Paragraphs>72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alvinraj4007@gmail.com</dc:creator>
  <cp:lastModifiedBy>alvinraj4007@gmail.com</cp:lastModifiedBy>
  <cp:revision>12</cp:revision>
  <dcterms:created xsi:type="dcterms:W3CDTF">2023-09-30T04:53:51Z</dcterms:created>
  <dcterms:modified xsi:type="dcterms:W3CDTF">2023-11-04T04:22:49Z</dcterms:modified>
</cp:coreProperties>
</file>